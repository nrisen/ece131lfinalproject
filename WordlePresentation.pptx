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59" r:id="rId3"/>
    <p:sldId id="260" r:id="rId4"/>
    <p:sldId id="279" r:id="rId5"/>
    <p:sldId id="266" r:id="rId6"/>
    <p:sldId id="280" r:id="rId7"/>
    <p:sldId id="281" r:id="rId8"/>
    <p:sldId id="282" r:id="rId9"/>
    <p:sldId id="278" r:id="rId10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9D4A0-F11B-80DF-C963-2D21076B1008}" v="918" dt="2026-04-26T02:47:47.362"/>
    <p1510:client id="{3E11BCB1-7E39-C27E-9187-7CC7D3CE2CFD}" v="48" dt="2026-04-26T03:10:59.083"/>
    <p1510:client id="{66A3FF13-40DB-4482-8571-ADAD6133CF26}" v="7" dt="2026-04-26T03:12:30.030"/>
    <p1510:client id="{BE1EFF8A-46F8-1A09-8443-1FB19EAE8F8E}" v="1490" dt="2026-04-27T19:51:34.404"/>
  </p1510:revLst>
</p1510:revInfo>
</file>

<file path=ppt/tableStyles.xml><?xml version="1.0" encoding="utf-8"?>
<a:tblStyleLst xmlns:a="http://schemas.openxmlformats.org/drawingml/2006/main" def="{370BE4FA-45D8-449C-983F-DBEEFFEBD9A5}">
  <a:tblStyle styleId="{370BE4FA-45D8-449C-983F-DBEEFFEBD9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56370B7E-80C5-47CC-CC86-C797C57B5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6AB59AD8-2AF5-49A8-67AE-72A2BBF88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09FF270F-3EA8-B45C-0E91-63B7A16946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464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BEF0BF47-000A-6510-7C7A-349876DB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15073D12-5209-330A-83F7-43877EA5F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0597C075-4A1B-A109-FBAD-4CB401810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6034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008E2C32-053C-E717-06F0-167BE62F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7FB9473A-8391-EEFD-87C9-AAC8274F8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96A49064-D64A-221F-2D10-8389859BE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328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>
          <a:extLst>
            <a:ext uri="{FF2B5EF4-FFF2-40B4-BE49-F238E27FC236}">
              <a16:creationId xmlns:a16="http://schemas.microsoft.com/office/drawing/2014/main" id="{886A4F07-77D8-91C8-CFB4-5A81DCC1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>
            <a:extLst>
              <a:ext uri="{FF2B5EF4-FFF2-40B4-BE49-F238E27FC236}">
                <a16:creationId xmlns:a16="http://schemas.microsoft.com/office/drawing/2014/main" id="{5E192EE9-3324-C218-FBA8-1671EB422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>
            <a:extLst>
              <a:ext uri="{FF2B5EF4-FFF2-40B4-BE49-F238E27FC236}">
                <a16:creationId xmlns:a16="http://schemas.microsoft.com/office/drawing/2014/main" id="{B01B809A-67E8-B831-5DF6-E1FD552CC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3444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ge7b3cc9d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2" name="Google Shape;2542;ge7b3cc9d3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1752950" y="3005100"/>
            <a:ext cx="6109200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"/>
          </p:nvPr>
        </p:nvSpPr>
        <p:spPr>
          <a:xfrm>
            <a:off x="1752950" y="1764900"/>
            <a:ext cx="6109200" cy="12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1"/>
          </p:nvPr>
        </p:nvSpPr>
        <p:spPr>
          <a:xfrm>
            <a:off x="3443750" y="3621269"/>
            <a:ext cx="5010300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subTitle" idx="2"/>
          </p:nvPr>
        </p:nvSpPr>
        <p:spPr>
          <a:xfrm>
            <a:off x="3051250" y="2638350"/>
            <a:ext cx="5010300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ubTitle" idx="3"/>
          </p:nvPr>
        </p:nvSpPr>
        <p:spPr>
          <a:xfrm>
            <a:off x="3051250" y="2330425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subTitle" idx="4"/>
          </p:nvPr>
        </p:nvSpPr>
        <p:spPr>
          <a:xfrm>
            <a:off x="2624725" y="1655450"/>
            <a:ext cx="5010300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subTitle" idx="5"/>
          </p:nvPr>
        </p:nvSpPr>
        <p:spPr>
          <a:xfrm>
            <a:off x="2624725" y="1347525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subTitle" idx="6"/>
          </p:nvPr>
        </p:nvSpPr>
        <p:spPr>
          <a:xfrm>
            <a:off x="3443750" y="3313350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3" name="Google Shape;253;p15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"/>
          </p:nvPr>
        </p:nvSpPr>
        <p:spPr>
          <a:xfrm>
            <a:off x="1679425" y="1587644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2"/>
          </p:nvPr>
        </p:nvSpPr>
        <p:spPr>
          <a:xfrm>
            <a:off x="1679425" y="1269900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subTitle" idx="3"/>
          </p:nvPr>
        </p:nvSpPr>
        <p:spPr>
          <a:xfrm>
            <a:off x="2536285" y="3541351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17"/>
          <p:cNvSpPr txBox="1">
            <a:spLocks noGrp="1"/>
          </p:cNvSpPr>
          <p:nvPr>
            <p:ph type="subTitle" idx="4"/>
          </p:nvPr>
        </p:nvSpPr>
        <p:spPr>
          <a:xfrm>
            <a:off x="2536286" y="3221450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17"/>
          <p:cNvSpPr txBox="1">
            <a:spLocks noGrp="1"/>
          </p:cNvSpPr>
          <p:nvPr>
            <p:ph type="subTitle" idx="5"/>
          </p:nvPr>
        </p:nvSpPr>
        <p:spPr>
          <a:xfrm>
            <a:off x="4994100" y="1577676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17"/>
          <p:cNvSpPr txBox="1">
            <a:spLocks noGrp="1"/>
          </p:cNvSpPr>
          <p:nvPr>
            <p:ph type="subTitle" idx="6"/>
          </p:nvPr>
        </p:nvSpPr>
        <p:spPr>
          <a:xfrm>
            <a:off x="4994100" y="1257775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17"/>
          <p:cNvSpPr txBox="1">
            <a:spLocks noGrp="1"/>
          </p:cNvSpPr>
          <p:nvPr>
            <p:ph type="subTitle" idx="7"/>
          </p:nvPr>
        </p:nvSpPr>
        <p:spPr>
          <a:xfrm>
            <a:off x="2099975" y="2564499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17"/>
          <p:cNvSpPr txBox="1">
            <a:spLocks noGrp="1"/>
          </p:cNvSpPr>
          <p:nvPr>
            <p:ph type="subTitle" idx="8"/>
          </p:nvPr>
        </p:nvSpPr>
        <p:spPr>
          <a:xfrm>
            <a:off x="2099975" y="2244588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17"/>
          <p:cNvSpPr txBox="1">
            <a:spLocks noGrp="1"/>
          </p:cNvSpPr>
          <p:nvPr>
            <p:ph type="subTitle" idx="9"/>
          </p:nvPr>
        </p:nvSpPr>
        <p:spPr>
          <a:xfrm>
            <a:off x="5414650" y="2564499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17"/>
          <p:cNvSpPr txBox="1">
            <a:spLocks noGrp="1"/>
          </p:cNvSpPr>
          <p:nvPr>
            <p:ph type="subTitle" idx="13"/>
          </p:nvPr>
        </p:nvSpPr>
        <p:spPr>
          <a:xfrm>
            <a:off x="5414650" y="2244588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17"/>
          <p:cNvSpPr txBox="1">
            <a:spLocks noGrp="1"/>
          </p:cNvSpPr>
          <p:nvPr>
            <p:ph type="subTitle" idx="14"/>
          </p:nvPr>
        </p:nvSpPr>
        <p:spPr>
          <a:xfrm>
            <a:off x="5846735" y="3551319"/>
            <a:ext cx="25089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17"/>
          <p:cNvSpPr txBox="1">
            <a:spLocks noGrp="1"/>
          </p:cNvSpPr>
          <p:nvPr>
            <p:ph type="subTitle" idx="15"/>
          </p:nvPr>
        </p:nvSpPr>
        <p:spPr>
          <a:xfrm>
            <a:off x="5846736" y="3233575"/>
            <a:ext cx="25089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9" name="Google Shape;309;p1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7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8"/>
          <p:cNvSpPr txBox="1">
            <a:spLocks noGrp="1"/>
          </p:cNvSpPr>
          <p:nvPr>
            <p:ph type="title" hasCustomPrompt="1"/>
          </p:nvPr>
        </p:nvSpPr>
        <p:spPr>
          <a:xfrm>
            <a:off x="1134200" y="686250"/>
            <a:ext cx="5341200" cy="63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18"/>
          <p:cNvSpPr txBox="1">
            <a:spLocks noGrp="1"/>
          </p:cNvSpPr>
          <p:nvPr>
            <p:ph type="subTitle" idx="1"/>
          </p:nvPr>
        </p:nvSpPr>
        <p:spPr>
          <a:xfrm>
            <a:off x="1664475" y="1323750"/>
            <a:ext cx="4810800" cy="39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9" name="Google Shape;329;p18"/>
          <p:cNvSpPr txBox="1">
            <a:spLocks noGrp="1"/>
          </p:cNvSpPr>
          <p:nvPr>
            <p:ph type="title" idx="2" hasCustomPrompt="1"/>
          </p:nvPr>
        </p:nvSpPr>
        <p:spPr>
          <a:xfrm>
            <a:off x="2100875" y="2016175"/>
            <a:ext cx="5106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0" name="Google Shape;330;p18"/>
          <p:cNvSpPr txBox="1">
            <a:spLocks noGrp="1"/>
          </p:cNvSpPr>
          <p:nvPr>
            <p:ph type="subTitle" idx="3"/>
          </p:nvPr>
        </p:nvSpPr>
        <p:spPr>
          <a:xfrm>
            <a:off x="2100875" y="2506366"/>
            <a:ext cx="5106000" cy="39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18"/>
          <p:cNvSpPr txBox="1">
            <a:spLocks noGrp="1"/>
          </p:cNvSpPr>
          <p:nvPr>
            <p:ph type="title" idx="4" hasCustomPrompt="1"/>
          </p:nvPr>
        </p:nvSpPr>
        <p:spPr>
          <a:xfrm>
            <a:off x="2100875" y="3013959"/>
            <a:ext cx="5106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2" name="Google Shape;332;p18"/>
          <p:cNvSpPr txBox="1">
            <a:spLocks noGrp="1"/>
          </p:cNvSpPr>
          <p:nvPr>
            <p:ph type="subTitle" idx="5"/>
          </p:nvPr>
        </p:nvSpPr>
        <p:spPr>
          <a:xfrm>
            <a:off x="2100875" y="3504150"/>
            <a:ext cx="5106000" cy="39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"/>
          <p:cNvSpPr txBox="1">
            <a:spLocks noGrp="1"/>
          </p:cNvSpPr>
          <p:nvPr>
            <p:ph type="subTitle" idx="1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>
            <a:spLocks noGrp="1"/>
          </p:cNvSpPr>
          <p:nvPr>
            <p:ph type="body" idx="1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93" name="Google Shape;393;p21"/>
          <p:cNvSpPr txBox="1">
            <a:spLocks noGrp="1"/>
          </p:cNvSpPr>
          <p:nvPr>
            <p:ph type="subTitle" idx="2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p21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9" name="Google Shape;399;p22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Wordle </a:t>
            </a:r>
            <a:r>
              <a:rPr lang="en">
                <a:solidFill>
                  <a:schemeClr val="accent2"/>
                </a:solidFill>
              </a:rPr>
              <a:t>‘Project’ </a:t>
            </a:r>
            <a:r>
              <a:rPr lang="en">
                <a:solidFill>
                  <a:schemeClr val="accent3"/>
                </a:solidFill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&lt; By: Nathan Risenhoover, Miles Nakai, Simon Padilla, Gray Sherwood and Matthew Sauceda &gt;</a:t>
            </a:r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-1828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/>
            <a:r>
              <a:rPr lang="en" sz="1400"/>
              <a:t> 4/28/2026 - ECE-131L-003 – Group 5</a:t>
            </a:r>
            <a:endParaRPr lang="en-US" sz="1400"/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chemeClr val="accent1"/>
                </a:solidFill>
              </a:rPr>
              <a:t>For ECE-131L</a:t>
            </a:r>
            <a:r>
              <a:rPr lang="en">
                <a:solidFill>
                  <a:schemeClr val="accent6"/>
                </a:solidFill>
              </a:rPr>
              <a:t>] 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err="1"/>
              <a:t>Wordle.c</a:t>
            </a:r>
            <a:endParaRPr lang="en" sz="1400" err="1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ECE-131L</a:t>
            </a: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98BC7DDC-9656-3A0D-CE7C-E46275A0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586415" y="1693994"/>
            <a:ext cx="5585504" cy="5622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accent6"/>
                </a:solidFill>
              </a:rPr>
              <a:t>[</a:t>
            </a:r>
            <a:r>
              <a:rPr lang="en" err="1">
                <a:solidFill>
                  <a:schemeClr val="accent1"/>
                </a:solidFill>
              </a:rPr>
              <a:t>What</a:t>
            </a:r>
            <a:r>
              <a:rPr lang="en" dirty="0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chemeClr val="accent1"/>
                </a:solidFill>
              </a:rPr>
              <a:t>is this Program?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18990" y="2322201"/>
            <a:ext cx="5003645" cy="12963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/>
              <a:t>&lt; Recreation of Wordle in C &gt;</a:t>
            </a:r>
            <a:endParaRPr lang="en" dirty="0"/>
          </a:p>
          <a:p>
            <a:pPr marL="285750" indent="-285750">
              <a:buFont typeface="Arial"/>
              <a:buChar char="•"/>
            </a:pPr>
            <a:r>
              <a:rPr lang="en"/>
              <a:t>&lt; Designed for casual players, and beginner programmers &gt;</a:t>
            </a:r>
            <a:endParaRPr lang="en" dirty="0"/>
          </a:p>
          <a:p>
            <a:pPr marL="285750" indent="-285750">
              <a:buFont typeface="Arial"/>
              <a:buChar char="•"/>
            </a:pPr>
            <a:r>
              <a:rPr lang="en" dirty="0"/>
              <a:t>&lt; Simple, additional features such as game history &gt;</a:t>
            </a:r>
          </a:p>
          <a:p>
            <a:pPr marL="0" indent="0"/>
            <a:endParaRPr lang="en"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833579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725479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-1828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chemeClr val="accent3"/>
                </a:solidFill>
              </a:rPr>
              <a:t>4/28/2026 - ECE-131L-003 – Group 5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>
                <a:solidFill>
                  <a:schemeClr val="accent3"/>
                </a:solidFill>
              </a:rPr>
              <a:t>Wordle.c</a:t>
            </a:r>
            <a:endParaRPr lang="en" sz="1400" err="1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ECE-131L</a:t>
            </a:r>
            <a:endParaRPr lang="en" sz="1400">
              <a:solidFill>
                <a:schemeClr val="accent3"/>
              </a:solidFill>
            </a:endParaRP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3565EB7D-489B-AB7D-CF43-4F8A37DC2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subTitle" idx="2"/>
          </p:nvPr>
        </p:nvSpPr>
        <p:spPr>
          <a:xfrm>
            <a:off x="2268725" y="1186230"/>
            <a:ext cx="5994750" cy="7216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&lt; A game where users must guess a five-letter word. Users are given feedback from their guesses based on color to figure out which letters are in the mystery </a:t>
            </a:r>
            <a:r>
              <a:rPr lang="en"/>
              <a:t>word, and what the position of each letter is. &gt;</a:t>
            </a:r>
            <a:endParaRPr lang="en-US"/>
          </a:p>
        </p:txBody>
      </p:sp>
      <p:sp>
        <p:nvSpPr>
          <p:cNvPr id="513" name="Google Shape;513;p31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/>
              <a:t>&lt; Add extra words to word library &gt;</a:t>
            </a:r>
          </a:p>
          <a:p>
            <a:pPr marL="285750" indent="-285750">
              <a:buFont typeface="Arial"/>
              <a:buChar char="•"/>
            </a:pPr>
            <a:r>
              <a:rPr lang="en"/>
              <a:t>&lt; View the history of prior games played &gt;</a:t>
            </a:r>
            <a:endParaRPr lang="en" dirty="0"/>
          </a:p>
          <a:p>
            <a:pPr marL="285750" indent="-285750">
              <a:buFont typeface="Arial"/>
              <a:buChar char="•"/>
            </a:pPr>
            <a:r>
              <a:rPr lang="en"/>
              <a:t>&lt; Remove game history on command &gt;</a:t>
            </a:r>
            <a:endParaRPr lang="en" dirty="0"/>
          </a:p>
        </p:txBody>
      </p:sp>
      <p:sp>
        <p:nvSpPr>
          <p:cNvPr id="514" name="Google Shape;514;p31"/>
          <p:cNvSpPr txBox="1">
            <a:spLocks noGrp="1"/>
          </p:cNvSpPr>
          <p:nvPr>
            <p:ph type="subTitle" idx="3"/>
          </p:nvPr>
        </p:nvSpPr>
        <p:spPr>
          <a:xfrm>
            <a:off x="1143250" y="2584050"/>
            <a:ext cx="7337610" cy="559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>
                <a:solidFill>
                  <a:schemeClr val="accent2"/>
                </a:solidFill>
              </a:rPr>
              <a:t>&lt; Unique Functionality &gt;</a:t>
            </a:r>
            <a:r>
              <a:rPr lang="en" dirty="0">
                <a:solidFill>
                  <a:schemeClr val="lt1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5428800" cy="5535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&lt; What is Wordle? </a:t>
            </a:r>
            <a:r>
              <a:rPr lang="en">
                <a:solidFill>
                  <a:srgbClr val="FF5858"/>
                </a:solidFill>
              </a:rPr>
              <a:t>&gt;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516" name="Google Shape;516;p31"/>
          <p:cNvGrpSpPr/>
          <p:nvPr/>
        </p:nvGrpSpPr>
        <p:grpSpPr>
          <a:xfrm>
            <a:off x="1707884" y="1417701"/>
            <a:ext cx="320076" cy="320076"/>
            <a:chOff x="1562938" y="4248450"/>
            <a:chExt cx="475950" cy="475950"/>
          </a:xfrm>
        </p:grpSpPr>
        <p:sp>
          <p:nvSpPr>
            <p:cNvPr id="517" name="Google Shape;517;p31"/>
            <p:cNvSpPr/>
            <p:nvPr/>
          </p:nvSpPr>
          <p:spPr>
            <a:xfrm>
              <a:off x="1571938" y="4257450"/>
              <a:ext cx="457475" cy="290150"/>
            </a:xfrm>
            <a:custGeom>
              <a:avLst/>
              <a:gdLst/>
              <a:ahLst/>
              <a:cxnLst/>
              <a:rect l="l" t="t" r="r" b="b"/>
              <a:pathLst>
                <a:path w="18299" h="11606" extrusionOk="0">
                  <a:moveTo>
                    <a:pt x="740" y="1"/>
                  </a:moveTo>
                  <a:cubicBezTo>
                    <a:pt x="342" y="1"/>
                    <a:pt x="1" y="342"/>
                    <a:pt x="1" y="740"/>
                  </a:cubicBezTo>
                  <a:lnTo>
                    <a:pt x="1" y="11605"/>
                  </a:lnTo>
                  <a:lnTo>
                    <a:pt x="18299" y="11605"/>
                  </a:lnTo>
                  <a:lnTo>
                    <a:pt x="18299" y="740"/>
                  </a:lnTo>
                  <a:cubicBezTo>
                    <a:pt x="18299" y="342"/>
                    <a:pt x="17976" y="1"/>
                    <a:pt x="17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1611763" y="4294900"/>
              <a:ext cx="377825" cy="252700"/>
            </a:xfrm>
            <a:custGeom>
              <a:avLst/>
              <a:gdLst/>
              <a:ahLst/>
              <a:cxnLst/>
              <a:rect l="l" t="t" r="r" b="b"/>
              <a:pathLst>
                <a:path w="15113" h="10108" extrusionOk="0">
                  <a:moveTo>
                    <a:pt x="1" y="1"/>
                  </a:moveTo>
                  <a:lnTo>
                    <a:pt x="1" y="10107"/>
                  </a:lnTo>
                  <a:lnTo>
                    <a:pt x="15113" y="10107"/>
                  </a:lnTo>
                  <a:lnTo>
                    <a:pt x="151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1875338" y="4356050"/>
              <a:ext cx="73975" cy="92950"/>
            </a:xfrm>
            <a:custGeom>
              <a:avLst/>
              <a:gdLst/>
              <a:ahLst/>
              <a:cxnLst/>
              <a:rect l="l" t="t" r="r" b="b"/>
              <a:pathLst>
                <a:path w="2959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58" y="371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1571938" y="4547575"/>
              <a:ext cx="457475" cy="167350"/>
            </a:xfrm>
            <a:custGeom>
              <a:avLst/>
              <a:gdLst/>
              <a:ahLst/>
              <a:cxnLst/>
              <a:rect l="l" t="t" r="r" b="b"/>
              <a:pathLst>
                <a:path w="18299" h="6694" extrusionOk="0">
                  <a:moveTo>
                    <a:pt x="1" y="0"/>
                  </a:moveTo>
                  <a:lnTo>
                    <a:pt x="1" y="2238"/>
                  </a:lnTo>
                  <a:cubicBezTo>
                    <a:pt x="1" y="2636"/>
                    <a:pt x="342" y="2977"/>
                    <a:pt x="740" y="2977"/>
                  </a:cubicBezTo>
                  <a:lnTo>
                    <a:pt x="7661" y="2977"/>
                  </a:lnTo>
                  <a:lnTo>
                    <a:pt x="7661" y="3717"/>
                  </a:lnTo>
                  <a:cubicBezTo>
                    <a:pt x="7661" y="4551"/>
                    <a:pt x="6998" y="5215"/>
                    <a:pt x="6182" y="5215"/>
                  </a:cubicBezTo>
                  <a:cubicBezTo>
                    <a:pt x="5348" y="5215"/>
                    <a:pt x="4684" y="5878"/>
                    <a:pt x="4684" y="6694"/>
                  </a:cubicBezTo>
                  <a:lnTo>
                    <a:pt x="13615" y="6694"/>
                  </a:lnTo>
                  <a:cubicBezTo>
                    <a:pt x="13615" y="5878"/>
                    <a:pt x="12952" y="5215"/>
                    <a:pt x="12136" y="5215"/>
                  </a:cubicBezTo>
                  <a:cubicBezTo>
                    <a:pt x="11302" y="5215"/>
                    <a:pt x="10638" y="4551"/>
                    <a:pt x="10638" y="3717"/>
                  </a:cubicBezTo>
                  <a:lnTo>
                    <a:pt x="10638" y="2977"/>
                  </a:lnTo>
                  <a:lnTo>
                    <a:pt x="17559" y="2977"/>
                  </a:lnTo>
                  <a:cubicBezTo>
                    <a:pt x="17976" y="2977"/>
                    <a:pt x="18299" y="2636"/>
                    <a:pt x="18299" y="2238"/>
                  </a:cubicBezTo>
                  <a:lnTo>
                    <a:pt x="18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17634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16520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1828413" y="4575450"/>
              <a:ext cx="21825" cy="18600"/>
            </a:xfrm>
            <a:custGeom>
              <a:avLst/>
              <a:gdLst/>
              <a:ahLst/>
              <a:cxnLst/>
              <a:rect l="l" t="t" r="r" b="b"/>
              <a:pathLst>
                <a:path w="873" h="744" extrusionOk="0">
                  <a:moveTo>
                    <a:pt x="384" y="0"/>
                  </a:moveTo>
                  <a:cubicBezTo>
                    <a:pt x="198" y="0"/>
                    <a:pt x="19" y="148"/>
                    <a:pt x="19" y="364"/>
                  </a:cubicBezTo>
                  <a:cubicBezTo>
                    <a:pt x="0" y="573"/>
                    <a:pt x="171" y="743"/>
                    <a:pt x="379" y="743"/>
                  </a:cubicBezTo>
                  <a:cubicBezTo>
                    <a:pt x="721" y="743"/>
                    <a:pt x="872" y="345"/>
                    <a:pt x="645" y="118"/>
                  </a:cubicBezTo>
                  <a:cubicBezTo>
                    <a:pt x="570" y="36"/>
                    <a:pt x="476" y="0"/>
                    <a:pt x="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1562938" y="4248450"/>
              <a:ext cx="475950" cy="475950"/>
            </a:xfrm>
            <a:custGeom>
              <a:avLst/>
              <a:gdLst/>
              <a:ahLst/>
              <a:cxnLst/>
              <a:rect l="l" t="t" r="r" b="b"/>
              <a:pathLst>
                <a:path w="19038" h="19038" extrusionOk="0">
                  <a:moveTo>
                    <a:pt x="16687" y="2219"/>
                  </a:moveTo>
                  <a:lnTo>
                    <a:pt x="16687" y="11605"/>
                  </a:lnTo>
                  <a:lnTo>
                    <a:pt x="2333" y="11605"/>
                  </a:lnTo>
                  <a:lnTo>
                    <a:pt x="2333" y="2219"/>
                  </a:lnTo>
                  <a:close/>
                  <a:moveTo>
                    <a:pt x="17919" y="740"/>
                  </a:moveTo>
                  <a:cubicBezTo>
                    <a:pt x="18128" y="740"/>
                    <a:pt x="18279" y="911"/>
                    <a:pt x="18279" y="1100"/>
                  </a:cubicBezTo>
                  <a:lnTo>
                    <a:pt x="18279" y="11605"/>
                  </a:lnTo>
                  <a:lnTo>
                    <a:pt x="17426" y="11605"/>
                  </a:lnTo>
                  <a:lnTo>
                    <a:pt x="17426" y="1859"/>
                  </a:lnTo>
                  <a:cubicBezTo>
                    <a:pt x="17426" y="1650"/>
                    <a:pt x="17274" y="1480"/>
                    <a:pt x="17066" y="1480"/>
                  </a:cubicBezTo>
                  <a:lnTo>
                    <a:pt x="1954" y="1480"/>
                  </a:lnTo>
                  <a:cubicBezTo>
                    <a:pt x="1764" y="1480"/>
                    <a:pt x="1593" y="1650"/>
                    <a:pt x="1593" y="1859"/>
                  </a:cubicBezTo>
                  <a:lnTo>
                    <a:pt x="1593" y="11605"/>
                  </a:lnTo>
                  <a:lnTo>
                    <a:pt x="740" y="11605"/>
                  </a:lnTo>
                  <a:lnTo>
                    <a:pt x="740" y="1100"/>
                  </a:lnTo>
                  <a:cubicBezTo>
                    <a:pt x="740" y="911"/>
                    <a:pt x="911" y="740"/>
                    <a:pt x="1100" y="740"/>
                  </a:cubicBezTo>
                  <a:close/>
                  <a:moveTo>
                    <a:pt x="18279" y="12344"/>
                  </a:moveTo>
                  <a:lnTo>
                    <a:pt x="18279" y="14184"/>
                  </a:lnTo>
                  <a:cubicBezTo>
                    <a:pt x="18279" y="14392"/>
                    <a:pt x="18128" y="14563"/>
                    <a:pt x="17919" y="14563"/>
                  </a:cubicBezTo>
                  <a:lnTo>
                    <a:pt x="1100" y="14563"/>
                  </a:lnTo>
                  <a:cubicBezTo>
                    <a:pt x="911" y="14563"/>
                    <a:pt x="740" y="14392"/>
                    <a:pt x="740" y="14184"/>
                  </a:cubicBezTo>
                  <a:lnTo>
                    <a:pt x="740" y="12344"/>
                  </a:lnTo>
                  <a:close/>
                  <a:moveTo>
                    <a:pt x="10638" y="15321"/>
                  </a:moveTo>
                  <a:lnTo>
                    <a:pt x="10638" y="15682"/>
                  </a:lnTo>
                  <a:cubicBezTo>
                    <a:pt x="10619" y="16080"/>
                    <a:pt x="10752" y="16478"/>
                    <a:pt x="10998" y="16800"/>
                  </a:cubicBezTo>
                  <a:lnTo>
                    <a:pt x="8021" y="16800"/>
                  </a:lnTo>
                  <a:cubicBezTo>
                    <a:pt x="8268" y="16478"/>
                    <a:pt x="8401" y="16080"/>
                    <a:pt x="8401" y="15682"/>
                  </a:cubicBezTo>
                  <a:lnTo>
                    <a:pt x="8401" y="15321"/>
                  </a:lnTo>
                  <a:close/>
                  <a:moveTo>
                    <a:pt x="12496" y="17540"/>
                  </a:moveTo>
                  <a:cubicBezTo>
                    <a:pt x="12951" y="17540"/>
                    <a:pt x="13387" y="17843"/>
                    <a:pt x="13539" y="18279"/>
                  </a:cubicBezTo>
                  <a:lnTo>
                    <a:pt x="5480" y="18279"/>
                  </a:lnTo>
                  <a:cubicBezTo>
                    <a:pt x="5632" y="17843"/>
                    <a:pt x="6068" y="17540"/>
                    <a:pt x="6542" y="17540"/>
                  </a:cubicBezTo>
                  <a:close/>
                  <a:moveTo>
                    <a:pt x="1100" y="1"/>
                  </a:moveTo>
                  <a:cubicBezTo>
                    <a:pt x="494" y="1"/>
                    <a:pt x="1" y="494"/>
                    <a:pt x="1" y="1100"/>
                  </a:cubicBezTo>
                  <a:lnTo>
                    <a:pt x="1" y="14203"/>
                  </a:lnTo>
                  <a:cubicBezTo>
                    <a:pt x="1" y="14809"/>
                    <a:pt x="494" y="15321"/>
                    <a:pt x="1100" y="15321"/>
                  </a:cubicBezTo>
                  <a:lnTo>
                    <a:pt x="7661" y="15321"/>
                  </a:lnTo>
                  <a:lnTo>
                    <a:pt x="7661" y="15682"/>
                  </a:lnTo>
                  <a:cubicBezTo>
                    <a:pt x="7642" y="16307"/>
                    <a:pt x="7149" y="16800"/>
                    <a:pt x="6542" y="16800"/>
                  </a:cubicBezTo>
                  <a:cubicBezTo>
                    <a:pt x="5518" y="16800"/>
                    <a:pt x="4684" y="17635"/>
                    <a:pt x="4684" y="18659"/>
                  </a:cubicBezTo>
                  <a:cubicBezTo>
                    <a:pt x="4684" y="18867"/>
                    <a:pt x="4836" y="19038"/>
                    <a:pt x="5044" y="19038"/>
                  </a:cubicBezTo>
                  <a:lnTo>
                    <a:pt x="13975" y="19038"/>
                  </a:lnTo>
                  <a:cubicBezTo>
                    <a:pt x="14184" y="19038"/>
                    <a:pt x="14354" y="18867"/>
                    <a:pt x="14354" y="18659"/>
                  </a:cubicBezTo>
                  <a:cubicBezTo>
                    <a:pt x="14354" y="17635"/>
                    <a:pt x="13520" y="16800"/>
                    <a:pt x="12496" y="16800"/>
                  </a:cubicBezTo>
                  <a:cubicBezTo>
                    <a:pt x="11870" y="16800"/>
                    <a:pt x="11377" y="16307"/>
                    <a:pt x="11377" y="15682"/>
                  </a:cubicBezTo>
                  <a:lnTo>
                    <a:pt x="11377" y="15321"/>
                  </a:lnTo>
                  <a:lnTo>
                    <a:pt x="17919" y="15321"/>
                  </a:lnTo>
                  <a:cubicBezTo>
                    <a:pt x="18526" y="15321"/>
                    <a:pt x="19038" y="14809"/>
                    <a:pt x="19038" y="14203"/>
                  </a:cubicBezTo>
                  <a:lnTo>
                    <a:pt x="19038" y="1100"/>
                  </a:lnTo>
                  <a:cubicBezTo>
                    <a:pt x="19038" y="494"/>
                    <a:pt x="18526" y="1"/>
                    <a:pt x="17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1642588" y="4346575"/>
              <a:ext cx="92925" cy="111900"/>
            </a:xfrm>
            <a:custGeom>
              <a:avLst/>
              <a:gdLst/>
              <a:ahLst/>
              <a:cxnLst/>
              <a:rect l="l" t="t" r="r" b="b"/>
              <a:pathLst>
                <a:path w="3717" h="4476" extrusionOk="0">
                  <a:moveTo>
                    <a:pt x="2977" y="759"/>
                  </a:moveTo>
                  <a:lnTo>
                    <a:pt x="2977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79" y="1"/>
                  </a:moveTo>
                  <a:cubicBezTo>
                    <a:pt x="171" y="1"/>
                    <a:pt x="0" y="171"/>
                    <a:pt x="0" y="380"/>
                  </a:cubicBezTo>
                  <a:lnTo>
                    <a:pt x="0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1753988" y="4346575"/>
              <a:ext cx="93400" cy="111900"/>
            </a:xfrm>
            <a:custGeom>
              <a:avLst/>
              <a:gdLst/>
              <a:ahLst/>
              <a:cxnLst/>
              <a:rect l="l" t="t" r="r" b="b"/>
              <a:pathLst>
                <a:path w="3736" h="4476" extrusionOk="0">
                  <a:moveTo>
                    <a:pt x="2996" y="759"/>
                  </a:moveTo>
                  <a:lnTo>
                    <a:pt x="2996" y="3736"/>
                  </a:lnTo>
                  <a:lnTo>
                    <a:pt x="759" y="3736"/>
                  </a:lnTo>
                  <a:lnTo>
                    <a:pt x="759" y="759"/>
                  </a:lnTo>
                  <a:close/>
                  <a:moveTo>
                    <a:pt x="379" y="1"/>
                  </a:moveTo>
                  <a:cubicBezTo>
                    <a:pt x="171" y="1"/>
                    <a:pt x="19" y="171"/>
                    <a:pt x="19" y="380"/>
                  </a:cubicBezTo>
                  <a:lnTo>
                    <a:pt x="19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35" y="4305"/>
                    <a:pt x="3735" y="4096"/>
                  </a:cubicBezTo>
                  <a:lnTo>
                    <a:pt x="3735" y="380"/>
                  </a:lnTo>
                  <a:cubicBezTo>
                    <a:pt x="3735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865838" y="4346575"/>
              <a:ext cx="92950" cy="111900"/>
            </a:xfrm>
            <a:custGeom>
              <a:avLst/>
              <a:gdLst/>
              <a:ahLst/>
              <a:cxnLst/>
              <a:rect l="l" t="t" r="r" b="b"/>
              <a:pathLst>
                <a:path w="3718" h="4476" extrusionOk="0">
                  <a:moveTo>
                    <a:pt x="2978" y="759"/>
                  </a:moveTo>
                  <a:lnTo>
                    <a:pt x="2978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80" y="1"/>
                  </a:moveTo>
                  <a:cubicBezTo>
                    <a:pt x="172" y="1"/>
                    <a:pt x="1" y="171"/>
                    <a:pt x="1" y="380"/>
                  </a:cubicBezTo>
                  <a:lnTo>
                    <a:pt x="1" y="4096"/>
                  </a:lnTo>
                  <a:cubicBezTo>
                    <a:pt x="1" y="4305"/>
                    <a:pt x="172" y="4476"/>
                    <a:pt x="380" y="4476"/>
                  </a:cubicBezTo>
                  <a:lnTo>
                    <a:pt x="3357" y="4476"/>
                  </a:lnTo>
                  <a:cubicBezTo>
                    <a:pt x="3547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47" y="1"/>
                    <a:pt x="3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16397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7511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862538" y="4476950"/>
              <a:ext cx="99575" cy="18500"/>
            </a:xfrm>
            <a:custGeom>
              <a:avLst/>
              <a:gdLst/>
              <a:ahLst/>
              <a:cxnLst/>
              <a:rect l="l" t="t" r="r" b="b"/>
              <a:pathLst>
                <a:path w="3983" h="740" extrusionOk="0">
                  <a:moveTo>
                    <a:pt x="512" y="0"/>
                  </a:moveTo>
                  <a:cubicBezTo>
                    <a:pt x="0" y="0"/>
                    <a:pt x="0" y="740"/>
                    <a:pt x="512" y="740"/>
                  </a:cubicBezTo>
                  <a:lnTo>
                    <a:pt x="3489" y="740"/>
                  </a:lnTo>
                  <a:cubicBezTo>
                    <a:pt x="3982" y="740"/>
                    <a:pt x="3982" y="0"/>
                    <a:pt x="34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1751138" y="4575525"/>
              <a:ext cx="62125" cy="18525"/>
            </a:xfrm>
            <a:custGeom>
              <a:avLst/>
              <a:gdLst/>
              <a:ahLst/>
              <a:cxnLst/>
              <a:rect l="l" t="t" r="r" b="b"/>
              <a:pathLst>
                <a:path w="2485" h="741" extrusionOk="0">
                  <a:moveTo>
                    <a:pt x="493" y="1"/>
                  </a:moveTo>
                  <a:cubicBezTo>
                    <a:pt x="0" y="1"/>
                    <a:pt x="0" y="740"/>
                    <a:pt x="493" y="740"/>
                  </a:cubicBezTo>
                  <a:lnTo>
                    <a:pt x="1991" y="740"/>
                  </a:lnTo>
                  <a:cubicBezTo>
                    <a:pt x="2484" y="740"/>
                    <a:pt x="2484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1707878" y="3444511"/>
            <a:ext cx="320088" cy="260682"/>
            <a:chOff x="5899913" y="4248925"/>
            <a:chExt cx="639025" cy="524300"/>
          </a:xfrm>
        </p:grpSpPr>
        <p:sp>
          <p:nvSpPr>
            <p:cNvPr id="533" name="Google Shape;533;p31"/>
            <p:cNvSpPr/>
            <p:nvPr/>
          </p:nvSpPr>
          <p:spPr>
            <a:xfrm>
              <a:off x="5937363" y="4261725"/>
              <a:ext cx="564600" cy="399175"/>
            </a:xfrm>
            <a:custGeom>
              <a:avLst/>
              <a:gdLst/>
              <a:ahLst/>
              <a:cxnLst/>
              <a:rect l="l" t="t" r="r" b="b"/>
              <a:pathLst>
                <a:path w="22584" h="15967" extrusionOk="0">
                  <a:moveTo>
                    <a:pt x="1005" y="1"/>
                  </a:moveTo>
                  <a:cubicBezTo>
                    <a:pt x="455" y="1"/>
                    <a:pt x="0" y="437"/>
                    <a:pt x="19" y="986"/>
                  </a:cubicBezTo>
                  <a:lnTo>
                    <a:pt x="19" y="15966"/>
                  </a:lnTo>
                  <a:lnTo>
                    <a:pt x="22584" y="15966"/>
                  </a:lnTo>
                  <a:lnTo>
                    <a:pt x="22584" y="986"/>
                  </a:lnTo>
                  <a:cubicBezTo>
                    <a:pt x="22584" y="437"/>
                    <a:pt x="22128" y="1"/>
                    <a:pt x="2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6070088" y="44987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498"/>
                  </a:lnTo>
                  <a:lnTo>
                    <a:pt x="5992" y="4494"/>
                  </a:lnTo>
                  <a:lnTo>
                    <a:pt x="11965" y="1498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6070088" y="44238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517"/>
                  </a:lnTo>
                  <a:lnTo>
                    <a:pt x="5992" y="4494"/>
                  </a:lnTo>
                  <a:lnTo>
                    <a:pt x="11965" y="1517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rgbClr val="DBA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070088" y="4311975"/>
              <a:ext cx="299150" cy="149825"/>
            </a:xfrm>
            <a:custGeom>
              <a:avLst/>
              <a:gdLst/>
              <a:ahLst/>
              <a:cxnLst/>
              <a:rect l="l" t="t" r="r" b="b"/>
              <a:pathLst>
                <a:path w="11966" h="5993" extrusionOk="0">
                  <a:moveTo>
                    <a:pt x="5992" y="0"/>
                  </a:moveTo>
                  <a:lnTo>
                    <a:pt x="1" y="2996"/>
                  </a:lnTo>
                  <a:lnTo>
                    <a:pt x="5992" y="5992"/>
                  </a:lnTo>
                  <a:lnTo>
                    <a:pt x="11965" y="2977"/>
                  </a:lnTo>
                  <a:lnTo>
                    <a:pt x="59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5912713" y="4660875"/>
              <a:ext cx="613900" cy="100025"/>
            </a:xfrm>
            <a:custGeom>
              <a:avLst/>
              <a:gdLst/>
              <a:ahLst/>
              <a:cxnLst/>
              <a:rect l="l" t="t" r="r" b="b"/>
              <a:pathLst>
                <a:path w="24556" h="4001" extrusionOk="0">
                  <a:moveTo>
                    <a:pt x="0" y="0"/>
                  </a:moveTo>
                  <a:lnTo>
                    <a:pt x="0" y="1005"/>
                  </a:lnTo>
                  <a:cubicBezTo>
                    <a:pt x="0" y="2655"/>
                    <a:pt x="1347" y="4001"/>
                    <a:pt x="2996" y="4001"/>
                  </a:cubicBezTo>
                  <a:lnTo>
                    <a:pt x="21560" y="4001"/>
                  </a:lnTo>
                  <a:cubicBezTo>
                    <a:pt x="23209" y="4001"/>
                    <a:pt x="24556" y="2655"/>
                    <a:pt x="24556" y="1005"/>
                  </a:cubicBezTo>
                  <a:lnTo>
                    <a:pt x="24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6157313" y="4698300"/>
              <a:ext cx="29425" cy="25150"/>
            </a:xfrm>
            <a:custGeom>
              <a:avLst/>
              <a:gdLst/>
              <a:ahLst/>
              <a:cxnLst/>
              <a:rect l="l" t="t" r="r" b="b"/>
              <a:pathLst>
                <a:path w="1177" h="1006" extrusionOk="0">
                  <a:moveTo>
                    <a:pt x="498" y="1"/>
                  </a:moveTo>
                  <a:cubicBezTo>
                    <a:pt x="242" y="1"/>
                    <a:pt x="1" y="200"/>
                    <a:pt x="1" y="494"/>
                  </a:cubicBezTo>
                  <a:cubicBezTo>
                    <a:pt x="1" y="778"/>
                    <a:pt x="228" y="1006"/>
                    <a:pt x="494" y="1006"/>
                  </a:cubicBezTo>
                  <a:cubicBezTo>
                    <a:pt x="949" y="1006"/>
                    <a:pt x="1176" y="456"/>
                    <a:pt x="854" y="153"/>
                  </a:cubicBezTo>
                  <a:cubicBezTo>
                    <a:pt x="749" y="48"/>
                    <a:pt x="621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5899913" y="4248925"/>
              <a:ext cx="639025" cy="524300"/>
            </a:xfrm>
            <a:custGeom>
              <a:avLst/>
              <a:gdLst/>
              <a:ahLst/>
              <a:cxnLst/>
              <a:rect l="l" t="t" r="r" b="b"/>
              <a:pathLst>
                <a:path w="25561" h="20972" extrusionOk="0">
                  <a:moveTo>
                    <a:pt x="23077" y="1006"/>
                  </a:moveTo>
                  <a:cubicBezTo>
                    <a:pt x="23342" y="1006"/>
                    <a:pt x="23570" y="1233"/>
                    <a:pt x="23570" y="1498"/>
                  </a:cubicBezTo>
                  <a:lnTo>
                    <a:pt x="23570" y="15985"/>
                  </a:lnTo>
                  <a:lnTo>
                    <a:pt x="2010" y="15985"/>
                  </a:lnTo>
                  <a:lnTo>
                    <a:pt x="2010" y="1498"/>
                  </a:lnTo>
                  <a:cubicBezTo>
                    <a:pt x="2010" y="1233"/>
                    <a:pt x="2238" y="1006"/>
                    <a:pt x="2503" y="1006"/>
                  </a:cubicBezTo>
                  <a:close/>
                  <a:moveTo>
                    <a:pt x="24575" y="16971"/>
                  </a:moveTo>
                  <a:lnTo>
                    <a:pt x="24575" y="17483"/>
                  </a:lnTo>
                  <a:cubicBezTo>
                    <a:pt x="24575" y="18848"/>
                    <a:pt x="23456" y="19967"/>
                    <a:pt x="22072" y="19967"/>
                  </a:cubicBezTo>
                  <a:lnTo>
                    <a:pt x="3508" y="19967"/>
                  </a:lnTo>
                  <a:cubicBezTo>
                    <a:pt x="2124" y="19967"/>
                    <a:pt x="1005" y="18848"/>
                    <a:pt x="1005" y="17483"/>
                  </a:cubicBezTo>
                  <a:lnTo>
                    <a:pt x="1005" y="16971"/>
                  </a:lnTo>
                  <a:close/>
                  <a:moveTo>
                    <a:pt x="2503" y="1"/>
                  </a:moveTo>
                  <a:cubicBezTo>
                    <a:pt x="1688" y="1"/>
                    <a:pt x="1005" y="683"/>
                    <a:pt x="1005" y="1498"/>
                  </a:cubicBezTo>
                  <a:lnTo>
                    <a:pt x="1005" y="15985"/>
                  </a:lnTo>
                  <a:lnTo>
                    <a:pt x="512" y="15985"/>
                  </a:lnTo>
                  <a:cubicBezTo>
                    <a:pt x="228" y="15985"/>
                    <a:pt x="0" y="16194"/>
                    <a:pt x="0" y="16478"/>
                  </a:cubicBezTo>
                  <a:lnTo>
                    <a:pt x="0" y="17483"/>
                  </a:lnTo>
                  <a:cubicBezTo>
                    <a:pt x="19" y="19398"/>
                    <a:pt x="1574" y="20972"/>
                    <a:pt x="3508" y="20972"/>
                  </a:cubicBezTo>
                  <a:lnTo>
                    <a:pt x="22072" y="20972"/>
                  </a:lnTo>
                  <a:cubicBezTo>
                    <a:pt x="24006" y="20972"/>
                    <a:pt x="25561" y="19417"/>
                    <a:pt x="25561" y="17483"/>
                  </a:cubicBezTo>
                  <a:lnTo>
                    <a:pt x="25561" y="16478"/>
                  </a:lnTo>
                  <a:cubicBezTo>
                    <a:pt x="25561" y="16194"/>
                    <a:pt x="25352" y="15985"/>
                    <a:pt x="25068" y="15985"/>
                  </a:cubicBezTo>
                  <a:lnTo>
                    <a:pt x="24575" y="15985"/>
                  </a:lnTo>
                  <a:lnTo>
                    <a:pt x="24575" y="1498"/>
                  </a:lnTo>
                  <a:cubicBezTo>
                    <a:pt x="24575" y="683"/>
                    <a:pt x="23892" y="1"/>
                    <a:pt x="230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6202813" y="4698325"/>
              <a:ext cx="83475" cy="25125"/>
            </a:xfrm>
            <a:custGeom>
              <a:avLst/>
              <a:gdLst/>
              <a:ahLst/>
              <a:cxnLst/>
              <a:rect l="l" t="t" r="r" b="b"/>
              <a:pathLst>
                <a:path w="3339" h="1005" extrusionOk="0">
                  <a:moveTo>
                    <a:pt x="683" y="0"/>
                  </a:moveTo>
                  <a:cubicBezTo>
                    <a:pt x="1" y="0"/>
                    <a:pt x="1" y="1005"/>
                    <a:pt x="683" y="1005"/>
                  </a:cubicBezTo>
                  <a:lnTo>
                    <a:pt x="2674" y="1005"/>
                  </a:lnTo>
                  <a:cubicBezTo>
                    <a:pt x="3338" y="1005"/>
                    <a:pt x="3338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6054913" y="4299050"/>
              <a:ext cx="329500" cy="324400"/>
            </a:xfrm>
            <a:custGeom>
              <a:avLst/>
              <a:gdLst/>
              <a:ahLst/>
              <a:cxnLst/>
              <a:rect l="l" t="t" r="r" b="b"/>
              <a:pathLst>
                <a:path w="13180" h="12976" extrusionOk="0">
                  <a:moveTo>
                    <a:pt x="6599" y="1048"/>
                  </a:moveTo>
                  <a:lnTo>
                    <a:pt x="11454" y="3494"/>
                  </a:lnTo>
                  <a:lnTo>
                    <a:pt x="6599" y="5921"/>
                  </a:lnTo>
                  <a:lnTo>
                    <a:pt x="1707" y="3494"/>
                  </a:lnTo>
                  <a:lnTo>
                    <a:pt x="6599" y="1048"/>
                  </a:lnTo>
                  <a:close/>
                  <a:moveTo>
                    <a:pt x="9595" y="5561"/>
                  </a:moveTo>
                  <a:lnTo>
                    <a:pt x="11454" y="6490"/>
                  </a:lnTo>
                  <a:lnTo>
                    <a:pt x="6599" y="8917"/>
                  </a:lnTo>
                  <a:lnTo>
                    <a:pt x="1707" y="6509"/>
                  </a:lnTo>
                  <a:lnTo>
                    <a:pt x="3604" y="5561"/>
                  </a:lnTo>
                  <a:lnTo>
                    <a:pt x="6372" y="6945"/>
                  </a:lnTo>
                  <a:cubicBezTo>
                    <a:pt x="6429" y="6964"/>
                    <a:pt x="6505" y="6983"/>
                    <a:pt x="6599" y="6983"/>
                  </a:cubicBezTo>
                  <a:cubicBezTo>
                    <a:pt x="6675" y="6983"/>
                    <a:pt x="6751" y="6964"/>
                    <a:pt x="6808" y="6945"/>
                  </a:cubicBezTo>
                  <a:lnTo>
                    <a:pt x="9595" y="5561"/>
                  </a:lnTo>
                  <a:close/>
                  <a:moveTo>
                    <a:pt x="9595" y="8538"/>
                  </a:moveTo>
                  <a:lnTo>
                    <a:pt x="11454" y="9486"/>
                  </a:lnTo>
                  <a:lnTo>
                    <a:pt x="6599" y="11913"/>
                  </a:lnTo>
                  <a:lnTo>
                    <a:pt x="1707" y="9486"/>
                  </a:lnTo>
                  <a:lnTo>
                    <a:pt x="3585" y="8538"/>
                  </a:lnTo>
                  <a:lnTo>
                    <a:pt x="6372" y="9922"/>
                  </a:lnTo>
                  <a:cubicBezTo>
                    <a:pt x="6429" y="9960"/>
                    <a:pt x="6505" y="9979"/>
                    <a:pt x="6599" y="9979"/>
                  </a:cubicBezTo>
                  <a:cubicBezTo>
                    <a:pt x="6675" y="9979"/>
                    <a:pt x="6751" y="9960"/>
                    <a:pt x="6808" y="9922"/>
                  </a:cubicBezTo>
                  <a:lnTo>
                    <a:pt x="9595" y="8538"/>
                  </a:lnTo>
                  <a:close/>
                  <a:moveTo>
                    <a:pt x="6590" y="1"/>
                  </a:moveTo>
                  <a:cubicBezTo>
                    <a:pt x="6514" y="1"/>
                    <a:pt x="6438" y="15"/>
                    <a:pt x="6372" y="43"/>
                  </a:cubicBezTo>
                  <a:lnTo>
                    <a:pt x="380" y="3039"/>
                  </a:lnTo>
                  <a:cubicBezTo>
                    <a:pt x="209" y="3134"/>
                    <a:pt x="96" y="3305"/>
                    <a:pt x="96" y="3494"/>
                  </a:cubicBezTo>
                  <a:cubicBezTo>
                    <a:pt x="96" y="3684"/>
                    <a:pt x="209" y="3855"/>
                    <a:pt x="380" y="3930"/>
                  </a:cubicBezTo>
                  <a:lnTo>
                    <a:pt x="2485" y="4992"/>
                  </a:lnTo>
                  <a:lnTo>
                    <a:pt x="380" y="6035"/>
                  </a:lnTo>
                  <a:cubicBezTo>
                    <a:pt x="1" y="6225"/>
                    <a:pt x="1" y="6756"/>
                    <a:pt x="380" y="6926"/>
                  </a:cubicBezTo>
                  <a:lnTo>
                    <a:pt x="2485" y="7988"/>
                  </a:lnTo>
                  <a:lnTo>
                    <a:pt x="380" y="9031"/>
                  </a:lnTo>
                  <a:cubicBezTo>
                    <a:pt x="1" y="9221"/>
                    <a:pt x="1" y="9752"/>
                    <a:pt x="380" y="9922"/>
                  </a:cubicBezTo>
                  <a:lnTo>
                    <a:pt x="6372" y="12918"/>
                  </a:lnTo>
                  <a:cubicBezTo>
                    <a:pt x="6448" y="12956"/>
                    <a:pt x="6524" y="12975"/>
                    <a:pt x="6599" y="12975"/>
                  </a:cubicBezTo>
                  <a:cubicBezTo>
                    <a:pt x="6675" y="12975"/>
                    <a:pt x="6751" y="12956"/>
                    <a:pt x="6827" y="12918"/>
                  </a:cubicBezTo>
                  <a:lnTo>
                    <a:pt x="12800" y="9922"/>
                  </a:lnTo>
                  <a:cubicBezTo>
                    <a:pt x="13179" y="9752"/>
                    <a:pt x="13179" y="9221"/>
                    <a:pt x="12800" y="9031"/>
                  </a:cubicBezTo>
                  <a:lnTo>
                    <a:pt x="10714" y="7988"/>
                  </a:lnTo>
                  <a:lnTo>
                    <a:pt x="12800" y="6926"/>
                  </a:lnTo>
                  <a:cubicBezTo>
                    <a:pt x="13179" y="6756"/>
                    <a:pt x="13179" y="6225"/>
                    <a:pt x="12800" y="6035"/>
                  </a:cubicBezTo>
                  <a:lnTo>
                    <a:pt x="10714" y="4992"/>
                  </a:lnTo>
                  <a:lnTo>
                    <a:pt x="12800" y="3930"/>
                  </a:lnTo>
                  <a:cubicBezTo>
                    <a:pt x="12971" y="3855"/>
                    <a:pt x="13084" y="3684"/>
                    <a:pt x="13084" y="3494"/>
                  </a:cubicBezTo>
                  <a:cubicBezTo>
                    <a:pt x="13084" y="3305"/>
                    <a:pt x="12971" y="3134"/>
                    <a:pt x="12800" y="3039"/>
                  </a:cubicBezTo>
                  <a:lnTo>
                    <a:pt x="6808" y="43"/>
                  </a:lnTo>
                  <a:cubicBezTo>
                    <a:pt x="6742" y="15"/>
                    <a:pt x="6666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-1828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4/28/2026 - ECE-131L-003 – Group 5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Wordle.c</a:t>
            </a:r>
            <a:endParaRPr lang="en" sz="1400" err="1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ECE-131L</a:t>
            </a:r>
            <a:endParaRPr lang="en" sz="1400"/>
          </a:p>
        </p:txBody>
      </p:sp>
      <p:grpSp>
        <p:nvGrpSpPr>
          <p:cNvPr id="545" name="Google Shape;545;p31"/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31"/>
          <p:cNvGrpSpPr/>
          <p:nvPr/>
        </p:nvGrpSpPr>
        <p:grpSpPr>
          <a:xfrm>
            <a:off x="1614876" y="3361546"/>
            <a:ext cx="506092" cy="426611"/>
            <a:chOff x="1665363" y="1706700"/>
            <a:chExt cx="578325" cy="487500"/>
          </a:xfrm>
        </p:grpSpPr>
        <p:sp>
          <p:nvSpPr>
            <p:cNvPr id="549" name="Google Shape;549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31"/>
          <p:cNvGrpSpPr/>
          <p:nvPr/>
        </p:nvGrpSpPr>
        <p:grpSpPr>
          <a:xfrm>
            <a:off x="1084825" y="3203163"/>
            <a:ext cx="506100" cy="1366863"/>
            <a:chOff x="1084825" y="3203163"/>
            <a:chExt cx="506100" cy="1366862"/>
          </a:xfrm>
        </p:grpSpPr>
        <p:cxnSp>
          <p:nvCxnSpPr>
            <p:cNvPr id="552" name="Google Shape;552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3" name="Picture 2" descr="wordle | TEMPLE RUN 2 - Play Online for Free!">
            <a:extLst>
              <a:ext uri="{FF2B5EF4-FFF2-40B4-BE49-F238E27FC236}">
                <a16:creationId xmlns:a16="http://schemas.microsoft.com/office/drawing/2014/main" id="{B9248DCE-AA83-D309-14A4-AE7BEE7BD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345" y="1314450"/>
            <a:ext cx="502920" cy="531495"/>
          </a:xfrm>
          <a:prstGeom prst="rect">
            <a:avLst/>
          </a:prstGeom>
        </p:spPr>
      </p:pic>
      <p:grpSp>
        <p:nvGrpSpPr>
          <p:cNvPr id="554" name="Google Shape;554;p31"/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FE04FABA-41FB-6376-377A-E2B79EACF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9D1DE863-104D-5051-91D0-97F91FDF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7F7F4A89-659B-565F-DE03-9BDA48C9A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02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40B99EE0-020E-2CFF-7819-C036D74D90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22933" y="1846623"/>
            <a:ext cx="597156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rgbClr val="FCC642"/>
                </a:solidFill>
              </a:rPr>
              <a:t>Program</a:t>
            </a:r>
            <a:r>
              <a:rPr lang="en">
                <a:solidFill>
                  <a:srgbClr val="FCC642"/>
                </a:solidFill>
              </a:rPr>
              <a:t> Design</a:t>
            </a:r>
            <a:r>
              <a:rPr lang="en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02" name="Google Shape;502;p30">
            <a:extLst>
              <a:ext uri="{FF2B5EF4-FFF2-40B4-BE49-F238E27FC236}">
                <a16:creationId xmlns:a16="http://schemas.microsoft.com/office/drawing/2014/main" id="{1066C3CF-040E-6E21-96BF-DF0B487802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38363" y="2385163"/>
            <a:ext cx="5555772" cy="17758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">
                <a:solidFill>
                  <a:srgbClr val="E7E7E7"/>
                </a:solidFill>
              </a:rPr>
              <a:t>&lt; Text files for word library, and game history &gt;</a:t>
            </a:r>
            <a:endParaRPr lang="en" dirty="0">
              <a:solidFill>
                <a:srgbClr val="E7E7E7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">
                <a:solidFill>
                  <a:srgbClr val="E7E7E7"/>
                </a:solidFill>
              </a:rPr>
              <a:t>&lt; Structures, string handling &gt;</a:t>
            </a:r>
            <a:endParaRPr lang="en" dirty="0">
              <a:solidFill>
                <a:srgbClr val="E7E7E7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">
                <a:solidFill>
                  <a:srgbClr val="E7E7E7"/>
                </a:solidFill>
              </a:rPr>
              <a:t>&lt; Loops for comparison logic, preventing edge cases &gt;</a:t>
            </a:r>
            <a:endParaRPr lang="en" dirty="0">
              <a:solidFill>
                <a:srgbClr val="E7E7E7"/>
              </a:solidFill>
            </a:endParaRPr>
          </a:p>
          <a:p>
            <a:pPr marL="0" indent="0"/>
            <a:endParaRPr lang="en" dirty="0">
              <a:solidFill>
                <a:srgbClr val="2E323B"/>
              </a:solidFill>
            </a:endParaRPr>
          </a:p>
          <a:p>
            <a:pPr marL="0" indent="0"/>
            <a:endParaRPr lang="en" dirty="0">
              <a:solidFill>
                <a:srgbClr val="E7E7E7"/>
              </a:solidFill>
            </a:endParaRP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1F2F459D-ECF5-DCF2-4D25-CE7B061CD975}"/>
              </a:ext>
            </a:extLst>
          </p:cNvPr>
          <p:cNvSpPr txBox="1"/>
          <p:nvPr/>
        </p:nvSpPr>
        <p:spPr>
          <a:xfrm>
            <a:off x="2151591" y="3770617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EF7D87B5-FA91-D33F-CE96-E4681843412F}"/>
              </a:ext>
            </a:extLst>
          </p:cNvPr>
          <p:cNvCxnSpPr>
            <a:endCxn id="503" idx="0"/>
          </p:cNvCxnSpPr>
          <p:nvPr/>
        </p:nvCxnSpPr>
        <p:spPr>
          <a:xfrm>
            <a:off x="2404641" y="1662517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EC595954-09DF-4106-FC42-49D4DB0599F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6672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chemeClr val="accent3"/>
                </a:solidFill>
              </a:rPr>
              <a:t>4/28/2026 - ECE-131L-003 – Group 5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07FF23DA-F800-1F91-6A28-B22231D5EA9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>
                <a:solidFill>
                  <a:schemeClr val="accent3"/>
                </a:solidFill>
              </a:rPr>
              <a:t>Wordle.c</a:t>
            </a:r>
            <a:endParaRPr lang="en" sz="1400" err="1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FB2F5DA4-5635-EE93-D76E-673333BA791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ECE-131L</a:t>
            </a:r>
            <a:endParaRPr lang="en" sz="1400">
              <a:solidFill>
                <a:schemeClr val="accent3"/>
              </a:solidFill>
            </a:endParaRP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AB094869-AF35-0B35-DF31-B709900D5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32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FF5858"/>
                </a:solidFill>
              </a:rPr>
              <a:t>Program Design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87" name="Google Shape;787;p37"/>
          <p:cNvSpPr txBox="1">
            <a:spLocks noGrp="1"/>
          </p:cNvSpPr>
          <p:nvPr>
            <p:ph type="subTitle" idx="5"/>
          </p:nvPr>
        </p:nvSpPr>
        <p:spPr>
          <a:xfrm>
            <a:off x="1341050" y="1122304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/>
              <a:t>&lt; Function Flowchart &gt;</a:t>
            </a:r>
            <a:endParaRPr/>
          </a:p>
        </p:txBody>
      </p:sp>
      <p:sp>
        <p:nvSpPr>
          <p:cNvPr id="788" name="Google Shape;788;p37"/>
          <p:cNvSpPr txBox="1">
            <a:spLocks noGrp="1"/>
          </p:cNvSpPr>
          <p:nvPr>
            <p:ph type="subTitle" idx="5"/>
          </p:nvPr>
        </p:nvSpPr>
        <p:spPr>
          <a:xfrm>
            <a:off x="-1828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4/28/2026 - ECE-131L-003 – Group 5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789" name="Google Shape;789;p37"/>
          <p:cNvSpPr txBox="1">
            <a:spLocks noGrp="1"/>
          </p:cNvSpPr>
          <p:nvPr>
            <p:ph type="subTitle" idx="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Wordle.c</a:t>
            </a:r>
            <a:endParaRPr sz="1400" err="1">
              <a:solidFill>
                <a:schemeClr val="accent3"/>
              </a:solidFill>
            </a:endParaRPr>
          </a:p>
        </p:txBody>
      </p:sp>
      <p:sp>
        <p:nvSpPr>
          <p:cNvPr id="790" name="Google Shape;790;p37"/>
          <p:cNvSpPr txBox="1">
            <a:spLocks noGrp="1"/>
          </p:cNvSpPr>
          <p:nvPr>
            <p:ph type="subTitle" idx="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ECE-131L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374771"/>
            <a:chOff x="1084825" y="1152525"/>
            <a:chExt cx="506100" cy="3374771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11696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4D73A099-E8B8-6706-1B1A-EB10F1ECD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  <p:pic>
        <p:nvPicPr>
          <p:cNvPr id="7" name="Picture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281FDCE-42AA-773B-0DF5-D3BDB79FD2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" t="20127" r="4" b="21012"/>
          <a:stretch>
            <a:fillRect/>
          </a:stretch>
        </p:blipFill>
        <p:spPr>
          <a:xfrm>
            <a:off x="1340305" y="1393935"/>
            <a:ext cx="7564618" cy="2483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1218C7F3-9C33-2DAC-5DEB-E270427CF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EA2F2C58-BD6B-5793-47A8-887B53F0EB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03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11A151F5-B053-5CC4-A8BB-D31AACDCCF1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33615" y="1478086"/>
            <a:ext cx="597156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rgbClr val="72D9F0"/>
                </a:solidFill>
              </a:rPr>
              <a:t>DEMO</a:t>
            </a:r>
            <a:r>
              <a:rPr lang="en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02" name="Google Shape;502;p30">
            <a:extLst>
              <a:ext uri="{FF2B5EF4-FFF2-40B4-BE49-F238E27FC236}">
                <a16:creationId xmlns:a16="http://schemas.microsoft.com/office/drawing/2014/main" id="{FB28932F-5DF4-0DE3-E0A5-9245BFC4FE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74270" y="2010153"/>
            <a:ext cx="5295913" cy="15734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">
                <a:solidFill>
                  <a:srgbClr val="E7E7E7"/>
                </a:solidFill>
              </a:rPr>
              <a:t>&lt; Scenario 1: Game played &gt;</a:t>
            </a:r>
            <a:endParaRPr lang="en" dirty="0">
              <a:solidFill>
                <a:srgbClr val="E7E7E7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"/>
              <a:t>&lt; Scenario 2: Adding a word to the library &gt;</a:t>
            </a:r>
            <a:endParaRPr lang="en">
              <a:solidFill>
                <a:srgbClr val="2E323B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">
                <a:solidFill>
                  <a:srgbClr val="E7E7E7"/>
                </a:solidFill>
              </a:rPr>
              <a:t>&lt; Scenario 3: Edge case &gt;</a:t>
            </a:r>
            <a:endParaRPr lang="en" dirty="0">
              <a:solidFill>
                <a:srgbClr val="E7E7E7"/>
              </a:solidFill>
            </a:endParaRP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4C62774C-800A-18A8-CF27-3F79E5D64D5E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FDD7C855-0409-11DB-0456-29447546232A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74359A08-952D-61E5-DE89-F8D1E1F5FA3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1828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chemeClr val="accent3"/>
                </a:solidFill>
              </a:rPr>
              <a:t>4/28/2026 - ECE-131L-003 – Group 5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475C653E-66B1-8A34-75AA-7A3BECB6C99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>
                <a:solidFill>
                  <a:schemeClr val="accent3"/>
                </a:solidFill>
              </a:rPr>
              <a:t>Wordle.c</a:t>
            </a:r>
            <a:endParaRPr lang="en" sz="1400" err="1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556C4EF8-36A2-82EE-29B8-08C4B5836DC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ECE-131L</a:t>
            </a:r>
            <a:endParaRPr lang="en" sz="1400">
              <a:solidFill>
                <a:schemeClr val="accent3"/>
              </a:solidFill>
            </a:endParaRP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2A644B4D-3BC2-0EFE-9A65-8EA43AB38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5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793FFA4D-987E-6091-A768-035CB550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80CEDA56-9846-556D-CDA0-13525271A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04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1D880EAE-AC8D-B395-1502-E8C24CBA540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33615" y="1478086"/>
            <a:ext cx="597156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chemeClr val="accent2"/>
                </a:solidFill>
              </a:rPr>
              <a:t>Lessons Learned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02" name="Google Shape;502;p30">
            <a:extLst>
              <a:ext uri="{FF2B5EF4-FFF2-40B4-BE49-F238E27FC236}">
                <a16:creationId xmlns:a16="http://schemas.microsoft.com/office/drawing/2014/main" id="{5C046405-AE58-701E-9B22-7232E68266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74270" y="2010153"/>
            <a:ext cx="4446675" cy="15734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">
                <a:solidFill>
                  <a:srgbClr val="E7E7E7"/>
                </a:solidFill>
              </a:rPr>
              <a:t>&lt; Repeated letter bug &gt;</a:t>
            </a:r>
            <a:endParaRPr lang="en" dirty="0">
              <a:solidFill>
                <a:srgbClr val="E7E7E7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">
                <a:solidFill>
                  <a:srgbClr val="E7E7E7"/>
                </a:solidFill>
              </a:rPr>
              <a:t>&lt; Repeat words in word library &gt;</a:t>
            </a:r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5351302A-B640-C1FB-C924-9AB6F90BB596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66DA6FE3-C3D6-A0ED-386F-F15A9B47D515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2732B076-216D-1237-51BE-E444751C4C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1828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chemeClr val="accent3"/>
                </a:solidFill>
              </a:rPr>
              <a:t>4/28/2026 - ECE-131L-003 – Group 5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6D648956-AF70-99C6-4E7F-14232A9BB0F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>
                <a:solidFill>
                  <a:schemeClr val="accent3"/>
                </a:solidFill>
              </a:rPr>
              <a:t>Wordle.c</a:t>
            </a:r>
            <a:endParaRPr lang="en" sz="1400" err="1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EECFFAC9-5E0B-34F6-5141-B285416806B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ECE-131L</a:t>
            </a:r>
            <a:endParaRPr lang="en" sz="1400">
              <a:solidFill>
                <a:schemeClr val="accent3"/>
              </a:solidFill>
            </a:endParaRP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BD686D26-B380-5A20-4A6E-D030060B0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85F3867D-30AF-E28F-78F2-79241C79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">
            <a:extLst>
              <a:ext uri="{FF2B5EF4-FFF2-40B4-BE49-F238E27FC236}">
                <a16:creationId xmlns:a16="http://schemas.microsoft.com/office/drawing/2014/main" id="{6F179037-2A5C-5967-5BB5-D3043FA4D2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19099" y="3202079"/>
            <a:ext cx="5676953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/>
              <a:t>&lt; Program modularity and edge case handling &gt;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"/>
              <a:t>&lt; More input validation, specifically of the words that the user enters &gt;</a:t>
            </a:r>
            <a:endParaRPr lang="en" dirty="0"/>
          </a:p>
          <a:p>
            <a:pPr marL="285750" indent="-285750">
              <a:buFont typeface="Arial"/>
              <a:buChar char="•"/>
            </a:pPr>
            <a:r>
              <a:rPr lang="en"/>
              <a:t>&lt; User friendliness, clearer formatting</a:t>
            </a:r>
            <a:r>
              <a:rPr lang="en" dirty="0"/>
              <a:t> &gt;</a:t>
            </a:r>
          </a:p>
        </p:txBody>
      </p:sp>
      <p:sp>
        <p:nvSpPr>
          <p:cNvPr id="514" name="Google Shape;514;p31">
            <a:extLst>
              <a:ext uri="{FF2B5EF4-FFF2-40B4-BE49-F238E27FC236}">
                <a16:creationId xmlns:a16="http://schemas.microsoft.com/office/drawing/2014/main" id="{EDD44C09-7528-B8EF-DA36-CFDA13CB678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43250" y="2584050"/>
            <a:ext cx="7337610" cy="559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>
                <a:solidFill>
                  <a:schemeClr val="accent2"/>
                </a:solidFill>
              </a:rPr>
              <a:t>&lt; What to improve &gt;</a:t>
            </a:r>
            <a:r>
              <a:rPr lang="en" dirty="0">
                <a:solidFill>
                  <a:schemeClr val="lt1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15" name="Google Shape;515;p31">
            <a:extLst>
              <a:ext uri="{FF2B5EF4-FFF2-40B4-BE49-F238E27FC236}">
                <a16:creationId xmlns:a16="http://schemas.microsoft.com/office/drawing/2014/main" id="{6DE756CA-DCBD-2425-5FAC-589D3408A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6096439" cy="5642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&lt; </a:t>
            </a:r>
            <a:r>
              <a:rPr lang="en" dirty="0">
                <a:solidFill>
                  <a:srgbClr val="FF5858"/>
                </a:solidFill>
              </a:rPr>
              <a:t>How we Fixed the bu</a:t>
            </a:r>
            <a:r>
              <a:rPr lang="en">
                <a:solidFill>
                  <a:srgbClr val="FF5858"/>
                </a:solidFill>
              </a:rPr>
              <a:t>gs &gt;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sp>
        <p:nvSpPr>
          <p:cNvPr id="542" name="Google Shape;542;p31">
            <a:extLst>
              <a:ext uri="{FF2B5EF4-FFF2-40B4-BE49-F238E27FC236}">
                <a16:creationId xmlns:a16="http://schemas.microsoft.com/office/drawing/2014/main" id="{ABDCCE20-5AAE-BBD8-39A9-431DD488F8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1828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4/28/2026 - ECE-131L-003 – Group 5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543" name="Google Shape;543;p31">
            <a:extLst>
              <a:ext uri="{FF2B5EF4-FFF2-40B4-BE49-F238E27FC236}">
                <a16:creationId xmlns:a16="http://schemas.microsoft.com/office/drawing/2014/main" id="{47D89382-3C41-317E-BE19-011D16073AF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Wordle.c</a:t>
            </a:r>
            <a:endParaRPr lang="en" sz="1400" err="1">
              <a:solidFill>
                <a:schemeClr val="accent3"/>
              </a:solidFill>
            </a:endParaRPr>
          </a:p>
        </p:txBody>
      </p:sp>
      <p:sp>
        <p:nvSpPr>
          <p:cNvPr id="544" name="Google Shape;544;p31">
            <a:extLst>
              <a:ext uri="{FF2B5EF4-FFF2-40B4-BE49-F238E27FC236}">
                <a16:creationId xmlns:a16="http://schemas.microsoft.com/office/drawing/2014/main" id="{0AEAD9D1-3156-DDB7-FADE-8E34908F8EE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ECE-131L</a:t>
            </a:r>
            <a:endParaRPr lang="en" sz="1400"/>
          </a:p>
        </p:txBody>
      </p:sp>
      <p:grpSp>
        <p:nvGrpSpPr>
          <p:cNvPr id="551" name="Google Shape;551;p31">
            <a:extLst>
              <a:ext uri="{FF2B5EF4-FFF2-40B4-BE49-F238E27FC236}">
                <a16:creationId xmlns:a16="http://schemas.microsoft.com/office/drawing/2014/main" id="{A95F1265-65C4-8F28-B14D-43E678FC7F62}"/>
              </a:ext>
            </a:extLst>
          </p:cNvPr>
          <p:cNvGrpSpPr/>
          <p:nvPr/>
        </p:nvGrpSpPr>
        <p:grpSpPr>
          <a:xfrm>
            <a:off x="1084825" y="3203163"/>
            <a:ext cx="506100" cy="1366863"/>
            <a:chOff x="1084825" y="3203163"/>
            <a:chExt cx="506100" cy="1366862"/>
          </a:xfrm>
        </p:grpSpPr>
        <p:cxnSp>
          <p:nvCxnSpPr>
            <p:cNvPr id="552" name="Google Shape;552;p31">
              <a:extLst>
                <a:ext uri="{FF2B5EF4-FFF2-40B4-BE49-F238E27FC236}">
                  <a16:creationId xmlns:a16="http://schemas.microsoft.com/office/drawing/2014/main" id="{8586F073-764A-8DC0-8D53-F1CD2CD65746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>
              <a:extLst>
                <a:ext uri="{FF2B5EF4-FFF2-40B4-BE49-F238E27FC236}">
                  <a16:creationId xmlns:a16="http://schemas.microsoft.com/office/drawing/2014/main" id="{377247F1-EE74-75FC-52ED-510FD894BB41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554" name="Google Shape;554;p31">
            <a:extLst>
              <a:ext uri="{FF2B5EF4-FFF2-40B4-BE49-F238E27FC236}">
                <a16:creationId xmlns:a16="http://schemas.microsoft.com/office/drawing/2014/main" id="{AC1FF97D-0D4A-6CE3-C7A1-C7355E9FF0B1}"/>
              </a:ext>
            </a:extLst>
          </p:cNvPr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>
              <a:extLst>
                <a:ext uri="{FF2B5EF4-FFF2-40B4-BE49-F238E27FC236}">
                  <a16:creationId xmlns:a16="http://schemas.microsoft.com/office/drawing/2014/main" id="{98A6919D-B38A-D264-B9C9-094EAB17BCB5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>
              <a:extLst>
                <a:ext uri="{FF2B5EF4-FFF2-40B4-BE49-F238E27FC236}">
                  <a16:creationId xmlns:a16="http://schemas.microsoft.com/office/drawing/2014/main" id="{785A2B34-24F4-585F-B2F0-BC17C7965C54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DFA62A1D-CA1F-F74A-927C-E296541EC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  <p:sp>
        <p:nvSpPr>
          <p:cNvPr id="5" name="Google Shape;513;p31">
            <a:extLst>
              <a:ext uri="{FF2B5EF4-FFF2-40B4-BE49-F238E27FC236}">
                <a16:creationId xmlns:a16="http://schemas.microsoft.com/office/drawing/2014/main" id="{115917A4-C788-91CB-0B22-3A01418F96BE}"/>
              </a:ext>
            </a:extLst>
          </p:cNvPr>
          <p:cNvSpPr txBox="1">
            <a:spLocks/>
          </p:cNvSpPr>
          <p:nvPr/>
        </p:nvSpPr>
        <p:spPr>
          <a:xfrm>
            <a:off x="1591382" y="1287465"/>
            <a:ext cx="609356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" dirty="0"/>
              <a:t>&lt; Modified for loops to track letters that have already been matched &gt;</a:t>
            </a:r>
          </a:p>
          <a:p>
            <a:pPr marL="285750" indent="-285750">
              <a:buFont typeface="Arial"/>
              <a:buChar char="•"/>
            </a:pPr>
            <a:r>
              <a:rPr lang="en" dirty="0"/>
              <a:t>&lt; Added a loop which scans all strings in the word </a:t>
            </a:r>
            <a:r>
              <a:rPr lang="en"/>
              <a:t>library, and compares the user input string to all strings in library &gt;</a:t>
            </a:r>
          </a:p>
        </p:txBody>
      </p:sp>
    </p:spTree>
    <p:extLst>
      <p:ext uri="{BB962C8B-B14F-4D97-AF65-F5344CB8AC3E}">
        <p14:creationId xmlns:p14="http://schemas.microsoft.com/office/powerpoint/2010/main" val="164287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49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Thank you;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2545" name="Google Shape;2545;p49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>
                <a:solidFill>
                  <a:schemeClr val="accent3"/>
                </a:solidFill>
              </a:rPr>
              <a:t>Please ask away! :)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546" name="Google Shape;2546;p49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‘Questions?’</a:t>
            </a:r>
            <a:endParaRPr/>
          </a:p>
        </p:txBody>
      </p:sp>
      <p:sp>
        <p:nvSpPr>
          <p:cNvPr id="2570" name="Google Shape;2570;p49"/>
          <p:cNvSpPr txBox="1">
            <a:spLocks noGrp="1"/>
          </p:cNvSpPr>
          <p:nvPr>
            <p:ph type="subTitle" idx="4294967295"/>
          </p:nvPr>
        </p:nvSpPr>
        <p:spPr>
          <a:xfrm>
            <a:off x="-1828" y="468019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chemeClr val="accent3"/>
                </a:solidFill>
              </a:rPr>
              <a:t>4/28/2026 - ECE-131L-003 – Group 5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2571" name="Google Shape;2571;p49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 dirty="0" err="1">
                <a:solidFill>
                  <a:schemeClr val="accent3"/>
                </a:solidFill>
              </a:rPr>
              <a:t>Wordle.c</a:t>
            </a:r>
            <a:endParaRPr lang="en" dirty="0" err="1">
              <a:solidFill>
                <a:srgbClr val="000000"/>
              </a:solidFill>
            </a:endParaRPr>
          </a:p>
        </p:txBody>
      </p:sp>
      <p:sp>
        <p:nvSpPr>
          <p:cNvPr id="2572" name="Google Shape;2572;p49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en">
                <a:solidFill>
                  <a:schemeClr val="accent3"/>
                </a:solidFill>
              </a:rPr>
              <a:t>ECE-131L</a:t>
            </a:r>
            <a:endParaRPr lang="en">
              <a:solidFill>
                <a:srgbClr val="000000"/>
              </a:solidFill>
            </a:endParaRPr>
          </a:p>
        </p:txBody>
      </p:sp>
      <p:grpSp>
        <p:nvGrpSpPr>
          <p:cNvPr id="2573" name="Google Shape;2573;p49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2574" name="Google Shape;2574;p4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75" name="Google Shape;2575;p49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45FAE454-55A0-99A0-F9EF-308834268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23385"/>
            <a:ext cx="2291715" cy="1297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Programming Language Workshop for Beginners by Slidesgo</vt:lpstr>
      <vt:lpstr>Wordle ‘Project’ {</vt:lpstr>
      <vt:lpstr>01 {</vt:lpstr>
      <vt:lpstr>&lt; What is Wordle? &gt; { </vt:lpstr>
      <vt:lpstr>02 {</vt:lpstr>
      <vt:lpstr>Program Design{</vt:lpstr>
      <vt:lpstr>03 {</vt:lpstr>
      <vt:lpstr>04 {</vt:lpstr>
      <vt:lpstr>&lt; How we Fixed the bugs &gt; { </vt:lpstr>
      <vt:lpstr>Thank you;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395</cp:revision>
  <dcterms:modified xsi:type="dcterms:W3CDTF">2026-04-27T19:52:49Z</dcterms:modified>
</cp:coreProperties>
</file>